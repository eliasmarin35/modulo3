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4630400" cy="8229600"/>
  <p:notesSz cx="8229600" cy="14630400"/>
  <p:embeddedFontLst>
    <p:embeddedFont>
      <p:font typeface="Instrument Sans Semi Bold"/>
      <p:regular r:id="rId36"/>
    </p:embeddedFont>
    <p:embeddedFont>
      <p:font typeface="Instrument Sans Semi Bold"/>
      <p:regular r:id="rId37"/>
    </p:embeddedFont>
    <p:embeddedFont>
      <p:font typeface="Instrument Sans Semi Bold"/>
      <p:regular r:id="rId38"/>
    </p:embeddedFont>
    <p:embeddedFont>
      <p:font typeface="Instrument Sans Semi Bold"/>
      <p:regular r:id="rId39"/>
    </p:embeddedFont>
    <p:embeddedFont>
      <p:font typeface="Instrument Sans Medium"/>
      <p:regular r:id="rId40"/>
    </p:embeddedFont>
    <p:embeddedFont>
      <p:font typeface="Instrument Sans Medium"/>
      <p:regular r:id="rId41"/>
    </p:embeddedFont>
    <p:embeddedFont>
      <p:font typeface="Instrument Sans Medium"/>
      <p:regular r:id="rId42"/>
    </p:embeddedFont>
    <p:embeddedFont>
      <p:font typeface="Instrument Sans Medium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1-1.png"/><Relationship Id="rId2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2-1.png"/><Relationship Id="rId2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3-1.png"/><Relationship Id="rId2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5-1.png"/><Relationship Id="rId2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6-1.png"/><Relationship Id="rId2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7-1.png"/><Relationship Id="rId2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8-1.png"/><Relationship Id="rId2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9-1.png"/><Relationship Id="rId2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6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8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30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Funcionales y Streams en Java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Descubre el poder de la programación funcional en Java y aprende a escribir código más elegante, conciso y expresivo utilizando interfaces funcionales y streams.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448"/>
            <a:ext cx="76916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con Código Ejecutable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17821"/>
            <a:ext cx="999839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 8 permite agregar código ejecutable directamente en las interfaces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28754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Desde Java 8 se permite que algunos métodos de las interfaces tengan código. Esto no rompe la idea fundamental de interfaz y las asemeja un poco más a las clases abstractas. Principalmente, existen dos tipos de métodos con implementación en código que se pueden añadir a una interfaz: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463409"/>
            <a:ext cx="6422231" cy="3847624"/>
          </a:xfrm>
          <a:prstGeom prst="roundRect">
            <a:avLst>
              <a:gd name="adj" fmla="val 21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68" y="3669387"/>
            <a:ext cx="595313" cy="59531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79" y="3799523"/>
            <a:ext cx="267891" cy="3349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9768" y="44630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44444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Default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99768" y="4892278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que las clases tengan una implementación base.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99768" y="532888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Permiten añadir nuevos métodos a una interfaz sin romper la compatibilidad de las clases que ya la implementan.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99768" y="603337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Útiles para proporcionar un comportamiento por defecto que las clases pueden sobrescribir según sea necesario.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99768" y="678751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414379" y="3463409"/>
            <a:ext cx="6422231" cy="3847624"/>
          </a:xfrm>
          <a:prstGeom prst="roundRect">
            <a:avLst>
              <a:gd name="adj" fmla="val 21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357" y="3669387"/>
            <a:ext cx="595313" cy="595313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68" y="3799523"/>
            <a:ext cx="267891" cy="3349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20357" y="44630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44444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Static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7620357" y="4892278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Métodos de utilidad que no dependen del objeto que instancie la interfaz.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620357" y="564642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están asociados a ninguna instancia de la interfaz, son a nivel de la interfaz misma.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620357" y="635091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Ideales para funciones auxiliares o de fábrica relacionadas con la interfaz, pero que no requieren el estado de un objeto.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189" y="501968"/>
            <a:ext cx="4942642" cy="43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Default en Interfaces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60189" y="995601"/>
            <a:ext cx="210085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60189" y="1468279"/>
            <a:ext cx="1351002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 Java 8, las interfaces trascendieron su rol de meras definiciones de contrato, permitiendo la inclusión de código ejecutable directamente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dentro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ellas, sin afectar la compatibilidad.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0189" y="1849755"/>
            <a:ext cx="13510022" cy="5877758"/>
          </a:xfrm>
          <a:prstGeom prst="roundRect">
            <a:avLst>
              <a:gd name="adj" fmla="val 1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5429" y="1864995"/>
            <a:ext cx="13479542" cy="420172"/>
          </a:xfrm>
          <a:prstGeom prst="roundRect">
            <a:avLst>
              <a:gd name="adj" fmla="val 9648"/>
            </a:avLst>
          </a:prstGeom>
          <a:solidFill>
            <a:srgbClr val="E2E3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187" y="1940004"/>
            <a:ext cx="210026" cy="2625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5447" y="2425184"/>
            <a:ext cx="1750695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Default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5447" y="2727841"/>
            <a:ext cx="13199507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métodos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permiten añadir nuevas funcionalidades a las interfaces sin romper la compatibilidad con las clases que ya las implementan. Proveen una implementación base directamente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la interfaz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que las clases pueden usar o sobreescribir.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5447" y="3348514"/>
            <a:ext cx="13199507" cy="3569375"/>
          </a:xfrm>
          <a:prstGeom prst="roundRect">
            <a:avLst>
              <a:gd name="adj" fmla="val 1648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708541" y="3348514"/>
            <a:ext cx="13213318" cy="3569375"/>
          </a:xfrm>
          <a:prstGeom prst="roundRect">
            <a:avLst>
              <a:gd name="adj" fmla="val 589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848558" y="3453527"/>
            <a:ext cx="12933283" cy="335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interface Operaciones {    int sumar(int a, int b);    default int restar(int a, int b) { // Implementado en la interfaz        return a - b;    }}class Calculadora implements Operaciones {    @Override    public int sumar(int a, int b) {        return a + b;    }    // "restar" es opcional de sobreescribir}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5447" y="7075408"/>
            <a:ext cx="13199507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clave: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Retrocompatibilidad, implementación por defecto, sobreescribibles.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5447" y="7348299"/>
            <a:ext cx="13199507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Cuándo usar: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Extender APIs de interfaces sin impactar implementaciones existentes; proporcionar comportamiento común que puede ser reutilizado o especializado.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724" y="446603"/>
            <a:ext cx="5451038" cy="507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Static en Interfaces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49724" y="1278969"/>
            <a:ext cx="1333095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 Java 8, las interfaces trascendieron su rol de meras definiciones de contrato, permitiendo la inclusión de código ejecutable directamente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dentro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ellas, sin afectar la compatibilidad.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9724" y="1981200"/>
            <a:ext cx="13330952" cy="5817156"/>
          </a:xfrm>
          <a:prstGeom prst="roundRect">
            <a:avLst>
              <a:gd name="adj" fmla="val 117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584" y="2004060"/>
            <a:ext cx="13285232" cy="487204"/>
          </a:xfrm>
          <a:prstGeom prst="roundRect">
            <a:avLst>
              <a:gd name="adj" fmla="val 8373"/>
            </a:avLst>
          </a:prstGeom>
          <a:solidFill>
            <a:srgbClr val="E2E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399" y="2091571"/>
            <a:ext cx="243602" cy="304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4985" y="2653665"/>
            <a:ext cx="203037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Static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4985" y="3004780"/>
            <a:ext cx="12960429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diferencia de los métodos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estos métodos pertenecen directamente a la interfaz y no a las instancias de las clases. Funcionan de manera similar a los métodos estáticos en clases, agrupando funcionalidades de utilidad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la propia interfaz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4985" y="3729871"/>
            <a:ext cx="12960429" cy="3101340"/>
          </a:xfrm>
          <a:prstGeom prst="roundRect">
            <a:avLst>
              <a:gd name="adj" fmla="val 2200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826889" y="3729871"/>
            <a:ext cx="12976622" cy="3101340"/>
          </a:xfrm>
          <a:prstGeom prst="roundRect">
            <a:avLst>
              <a:gd name="adj" fmla="val 786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989290" y="3851672"/>
            <a:ext cx="12651819" cy="285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interface UtilidadesString {    static boolean esVacio(String str) { // Implementado en la interfaz        return str == null || str.trim().isEmpty();    }    static String limpiarEspacios(String str) {        return str.trim();    }}// Uso directo de la interfaz:// boolean vacio = UtilidadesString.esVacio("  ");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4985" y="7013853"/>
            <a:ext cx="1296042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clave: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Pertenencia a la interfaz (se invocan con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Interfaz.metodoStatic()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); no son heredables ni sobreescribibles.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4985" y="7353300"/>
            <a:ext cx="1296042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Cuándo usar: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Organizar métodos de utilidad relacionados con la interfaz; crear métodos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factory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producir instancias de las implementaciones de la interfaz.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2589"/>
            <a:ext cx="73581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¿Qué es una Interfaz Funcional?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803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Interfaz Funcional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(Functional Interface) es una interfaz que contiene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4444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exactamente un único método abstracto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Representa un comportamiento o función que puede pasarse como argumento, almacenarse en una variable o devolverse desde un método.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3864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interfaces funcionales son la base de la programación funcional en Java y permiten usar expresiones lambda y referencias a métodos de forma natural y elegante.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296966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68" y="4502944"/>
            <a:ext cx="595313" cy="59531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79" y="4633079"/>
            <a:ext cx="267891" cy="3349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9768" y="52966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 método abstracto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99768" y="5725835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Solo puede tener un método sin implementación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207437" y="4296966"/>
            <a:ext cx="4215408" cy="2269927"/>
          </a:xfrm>
          <a:prstGeom prst="roundRect">
            <a:avLst>
              <a:gd name="adj" fmla="val 367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415" y="4502944"/>
            <a:ext cx="595313" cy="59531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126" y="4633079"/>
            <a:ext cx="267891" cy="3349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13415" y="52966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adicionales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5413415" y="5725835"/>
            <a:ext cx="380345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Puede incluir métodos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9621203" y="4296966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181" y="4502944"/>
            <a:ext cx="595313" cy="595313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0892" y="4633079"/>
            <a:ext cx="267891" cy="33492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27181" y="52966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Anotación opcional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9827181" y="5725835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recomienda usar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@FunctionalInterface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6673"/>
            <a:ext cx="68601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Interfaz Funcional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727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Definición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668078"/>
            <a:ext cx="6279356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668078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816906"/>
            <a:ext cx="59024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@FunctionalInterfaceinterface Operacion {    int aplicar(int a, int b);}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45913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interfaz define un contrato simple: una operación que toma dos enteros y devuelve un entero como resultado.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0727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Características clave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64874" y="3643193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único método abstracto: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aplicar(int, int)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04538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Anotación @FunctionalInterface: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garantiza que el compilador detecte errores si añadimos más métodos abstractos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74987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Reutilizable: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puede implementarse de múltiples formas diferentes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2722"/>
            <a:ext cx="124932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Cuatro Formas de Implementar una Interfaz Funcional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904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 ofrece múltiples maneras de implementar interfaces funcionales, desde el enfoque tradicional orientado a objetos hasta las modernas expresiones lambda. Cada forma tiene su lugar y utilidad según el contexto.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4877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63102"/>
            <a:ext cx="6422231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008001"/>
            <a:ext cx="38052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que implementa la interfaz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443722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Enfoque tradicional con una clase completa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14379" y="354877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79" y="3863102"/>
            <a:ext cx="6422231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4379" y="40080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anónima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414379" y="443722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Implementación inline sin crear una clase con nombre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93790" y="510194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96508"/>
            <a:ext cx="6422231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55611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Expresión lambda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93790" y="5990392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Sintaxis concisa y moderna introducida en Java 8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414379" y="510194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379" y="5396508"/>
            <a:ext cx="6422231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4379" y="55611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Referencia a método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7414379" y="5990392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Forma abreviada cuando se llama a un método existente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4875"/>
            <a:ext cx="80126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Clase que Implementa la Interfaz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95851"/>
            <a:ext cx="7632025" cy="3155513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995851"/>
            <a:ext cx="7651790" cy="3155513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3144679"/>
            <a:ext cx="7255073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class Suma implements Operacion {    public int aplicar(int a, int b) {        return a + b;    }}// UsoOperacion op = new Suma();int resultado = op.aplicar(5, 3); // 8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17543" y="29709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Cuándo usarla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917543" y="3479483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Lógica compleja que requiere múltiples métodos auxiliares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17543" y="4183975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Necesitas reutilizar la implementación en varios lugares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17543" y="4888468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Quieres mantener estado interno en la clase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31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Clase Anónima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94077"/>
            <a:ext cx="7632025" cy="2520434"/>
          </a:xfrm>
          <a:prstGeom prst="roundRect">
            <a:avLst>
              <a:gd name="adj" fmla="val 330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094077"/>
            <a:ext cx="7651790" cy="2520434"/>
          </a:xfrm>
          <a:prstGeom prst="roundRect">
            <a:avLst>
              <a:gd name="adj" fmla="val 118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3242905"/>
            <a:ext cx="72550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Operacion op = new Operacion() {    public int aplicar(int a, int b) {        return a + b;    }};int resultado = op.aplicar(5, 3); // 8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17543" y="30691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Cuándo usarla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917543" y="3577709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Implementación única y no reutilizable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17543" y="3964662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Lógica algo compleja para una lambda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17543" y="4351615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Código legacy que aún no migró a lambdas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917543" y="4892397"/>
            <a:ext cx="4926568" cy="1160740"/>
          </a:xfrm>
          <a:prstGeom prst="roundRect">
            <a:avLst>
              <a:gd name="adj" fmla="val 7182"/>
            </a:avLst>
          </a:prstGeom>
          <a:solidFill>
            <a:srgbClr val="D4D5D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5901" y="5187672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62267" y="5140285"/>
            <a:ext cx="40834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💡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Las lambdas han reemplazado en gran medida este patrón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541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Expresión Lambda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526393"/>
            <a:ext cx="6279356" cy="1250275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526393"/>
            <a:ext cx="6299121" cy="12502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3675221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Operacion op = (a, b) -&gt; a + b;int resultado = op.aplicar(5, 3); // 8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99911"/>
            <a:ext cx="627935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sintaxis lambda es compacta y expresiva: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(parámetros) -&gt; expresión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5015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01002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Concisión: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reduce el código ceremonial significativamente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3969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Legibilidad: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 centra en la lógica, no en la estructura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78393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Expresividad: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comunica la intención de forma clara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0163"/>
            <a:ext cx="103424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Variables Efectivamente Finales en Lambdas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17075"/>
            <a:ext cx="1304282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expresiones lambda solo pueden usar variables del contexto externo que sean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efectivamente finales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Una variable es efectivamente final si su valor no cambia después de inicializarse, aunque no esté declarada explícitamente como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88995"/>
            <a:ext cx="2977039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Esto funciona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991928"/>
            <a:ext cx="6279356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3991928"/>
            <a:ext cx="6299121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140756"/>
            <a:ext cx="590240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base = 10; // efectivamente finalFunction&lt;Integer, Integer&gt; sumarBase =     x -&gt; x + base;    System.out.println(sumarBase.apply(5)); // 15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418064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variable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nunca cambia, por lo que es efectivamente final.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388995"/>
            <a:ext cx="2977039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❌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Esto da error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564874" y="3991928"/>
            <a:ext cx="6279356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54992" y="3991928"/>
            <a:ext cx="6299121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53350" y="4140756"/>
            <a:ext cx="590240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base = 10;Function&lt;Integer, Integer&gt; sumarBase =  x -&gt; x + base;base = 20; //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8919"/>
            <a:ext cx="53051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Referencia a Método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69895"/>
            <a:ext cx="6279356" cy="1250275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969895"/>
            <a:ext cx="6299121" cy="12502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3118723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Operacion op = Integer::sum;int resultado = op.aplicar(5, 3); // 8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443413"/>
            <a:ext cx="6279356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Cuando una lambda simplemente llama a un método existente, podemos usar el operador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una sintaxis aún más limpia.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945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Equivalencia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3478411"/>
            <a:ext cx="6279356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554992" y="3478411"/>
            <a:ext cx="6299121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753350" y="3627239"/>
            <a:ext cx="590240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Lambda(a, b) -&gt; Integer.sum(a, b)// Referencia a métodoInteger::sum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558700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Ambas formas son funcionalmente idénticas, pero la referencia a método es más concisa.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5943"/>
            <a:ext cx="94221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Referencias a Métodos: Los Cuatro Tipos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9367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referencias a métodos son una forma elegante y legible de referenciar métodos existentes cuando el cuerpo de la lambda únicamente llama a ese método. Existen cuatro tipos según el contexto del método referenciado.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51998"/>
            <a:ext cx="6422231" cy="2251591"/>
          </a:xfrm>
          <a:prstGeom prst="roundRect">
            <a:avLst>
              <a:gd name="adj" fmla="val 3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674858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6077" y="2782610"/>
            <a:ext cx="297656" cy="3720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34685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 estático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3897749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Clase::metodoEstatico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15008" y="4349591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Math::max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414379" y="2651998"/>
            <a:ext cx="6422231" cy="2251591"/>
          </a:xfrm>
          <a:prstGeom prst="roundRect">
            <a:avLst>
              <a:gd name="adj" fmla="val 3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37239" y="2674858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67" y="2782610"/>
            <a:ext cx="297656" cy="3720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597" y="3468529"/>
            <a:ext cx="45820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 de instancia (objeto específico)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635597" y="3897749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objeto::metodoInstancia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635597" y="4349591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System.out::println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793790" y="5101947"/>
            <a:ext cx="6422231" cy="2251591"/>
          </a:xfrm>
          <a:prstGeom prst="roundRect">
            <a:avLst>
              <a:gd name="adj" fmla="val 3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6650" y="5124807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077" y="5232559"/>
            <a:ext cx="297656" cy="3720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5008" y="5918478"/>
            <a:ext cx="44671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 de instancia (objeto arbitrario)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015008" y="6347698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Clase::metodoInstancia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015008" y="6799540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String::toUpperCase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7414379" y="5101947"/>
            <a:ext cx="6422231" cy="2251591"/>
          </a:xfrm>
          <a:prstGeom prst="roundRect">
            <a:avLst>
              <a:gd name="adj" fmla="val 3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37239" y="5124807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667" y="5232559"/>
            <a:ext cx="297656" cy="37207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35597" y="59184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Constructor</a:t>
            </a:r>
            <a:endParaRPr lang="en-US" sz="1950" dirty="0"/>
          </a:p>
        </p:txBody>
      </p:sp>
      <p:sp>
        <p:nvSpPr>
          <p:cNvPr id="26" name="Text 20"/>
          <p:cNvSpPr/>
          <p:nvPr/>
        </p:nvSpPr>
        <p:spPr>
          <a:xfrm>
            <a:off x="7635597" y="6347698"/>
            <a:ext cx="59797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Clase::new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597" y="679954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Ejemplo: ArrayList::new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9795"/>
            <a:ext cx="98632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Estáticos: Clase::metodoEstatico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60771"/>
            <a:ext cx="6955631" cy="4425672"/>
          </a:xfrm>
          <a:prstGeom prst="roundRect">
            <a:avLst>
              <a:gd name="adj" fmla="val 188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360771"/>
            <a:ext cx="6975396" cy="4425672"/>
          </a:xfrm>
          <a:prstGeom prst="roundRect">
            <a:avLst>
              <a:gd name="adj" fmla="val 67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509599"/>
            <a:ext cx="6578679" cy="4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java.util.function.BinaryOperator;public class DemoEstatico {    public static int sumar(int a, int b) {        return a + b;    }        public static void main(String[] args) {        BinaryOperator&lt;Integer&gt; suma =             DemoEstatico::sumar;        System.out.println(suma.apply(4, 5)); // 9    }}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41149" y="23358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Equivalencia lambda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241149" y="2869287"/>
            <a:ext cx="5602962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8231267" y="2869287"/>
            <a:ext cx="5622727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429625" y="3018115"/>
            <a:ext cx="52260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(a, b) -&gt; DemoEstatico.sumar(a, b)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41149" y="37077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Regla fundamental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41149" y="4216241"/>
            <a:ext cx="560296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signatura del método referenciado debe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coincidir exactamente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 el método abstracto de la interfaz funcional: mismo número de parámetros, mismos tipos y mismo tipo de retorno.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8880"/>
            <a:ext cx="90624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 de Instancia: Objeto Específico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349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Concepto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0540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Cuando el método ya está asociado a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objeto existente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podemos referenciar ese método específico del objeto.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063722"/>
            <a:ext cx="6279356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4063722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212550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Consumer&lt;String&gt; imprimir = System.out::println;imprimir.accept("Hola desde System.out");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219700"/>
            <a:ext cx="627935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Aquí,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 un objeto específico (una instancia de PrintStream), y referenciamos su método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26349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práctico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564874" y="3230285"/>
            <a:ext cx="6279356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54992" y="3230285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53350" y="3379113"/>
            <a:ext cx="59024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String prefijo = "Hola, ";Function&lt;String, String&gt; saludar = prefijo::concat;System.out.println(saludar.apply("Juan")); // "Hola, Juan"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0213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Equivalencia lambda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564874" y="5554742"/>
            <a:ext cx="6279356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554992" y="5554742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753350" y="5703570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 -&gt; System.out.println(s)s -&gt; prefijo.concat(s)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5773"/>
            <a:ext cx="89021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 de Instancia: Objeto Arbitrario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4350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tipo es especialmente útil en streams. El método se aplicará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objeto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del tipo indicado. Java infiere que el primer argumento será el objeto receptor.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25071"/>
            <a:ext cx="7632025" cy="3155513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425071"/>
            <a:ext cx="7651790" cy="3155513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573899"/>
            <a:ext cx="7255073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List&lt;String&gt; nombres = List.of("ana", "juan", "luis");nombres.stream()    .map(String::toUpperCase)    .forEach(System.out::println);// Output:// ANA// JUAN// LUIS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17543" y="34001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Equivalencia lambda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917543" y="3933587"/>
            <a:ext cx="4926568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8907661" y="3933587"/>
            <a:ext cx="4946333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06019" y="4082415"/>
            <a:ext cx="45496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.map(s -&gt; s.toUpperCase())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917543" y="4772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¿Cómo funciona?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917543" y="5280541"/>
            <a:ext cx="4926568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elemento del stream (un String) se convierte en el objeto receptor del método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130"/>
            <a:ext cx="65852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Referencias a Constructores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112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Sintaxis: Clase::new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706535"/>
            <a:ext cx="6279356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706535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855363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Supplier&lt;List&lt;String&gt;&gt; crearLista = ArrayList::new;List&lt;String&gt; lista = crearLista.get();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862512"/>
            <a:ext cx="6279356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crear objetos nuevos sin escribir explícitamente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dentro de la lambda.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1112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Equivalencia lambda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564874" y="3706535"/>
            <a:ext cx="6279356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54992" y="3706535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53350" y="3855363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 -&gt; new ArrayList&lt;&gt;()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4544973"/>
            <a:ext cx="26515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Uso común en streams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564874" y="5078373"/>
            <a:ext cx="6279356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54992" y="5078373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53350" y="5227201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List&lt;String&gt; nombres = stream .collect(Collectors.toCollection(ArrayList::new));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0656"/>
            <a:ext cx="127656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Implícitas de Interfaces Funcionales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5839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característica fascinante del modelo funcional de Java es que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es necesario declarar explícitamente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que una clase implementa una interfaz funcional. Si la firma del método coincide, Java permite usarlo como implementación.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16712"/>
            <a:ext cx="992267" cy="1190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84415" y="3415070"/>
            <a:ext cx="30738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Type Matching Estructural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984415" y="3844290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 compara las firmas de métodos, no solo las relaciones nominales (implements)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407456"/>
            <a:ext cx="992267" cy="1190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4415" y="46058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Mayor Flexibilidad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984415" y="5035034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Métodos compatibles pueden usarse aunque la clase no implemente la interfaz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598200"/>
            <a:ext cx="992267" cy="1190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84415" y="57965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 de las Lambdas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984415" y="6225778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mecanismo permite que las lambdas funcionen sin declaraciones explícitas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5968"/>
            <a:ext cx="86675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Implementación Implícita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92881"/>
            <a:ext cx="13042821" cy="5060752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092881"/>
            <a:ext cx="13062585" cy="5060752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241709"/>
            <a:ext cx="12665869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@FunctionalInterfaceinterface Validador { boolean validar(String texto);}class ValidadorTexto { public boolean validar(String texto) { return texto != null &amp;&amp; !texto.isEmpty(); }}public class Demo { public static void main(String[] args) { ValidadorTexto vt = new ValidadorTexto(); //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317"/>
            <a:ext cx="100755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Funcionales Predefinidas en Java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40230"/>
            <a:ext cx="1304282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paquete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java.util.function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proporciona un conjunto completo de interfaces funcionales listas para usar, cubriendo los casos más comunes en programación funcional.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13792"/>
            <a:ext cx="13042821" cy="4692372"/>
          </a:xfrm>
          <a:prstGeom prst="roundRect">
            <a:avLst>
              <a:gd name="adj" fmla="val 17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2141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006" y="284809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Interfaz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609261" y="284809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Método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14705" y="2848094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Descripción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774323" y="284809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3292316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0006" y="341899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Predicate&lt;T&gt;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09261" y="341899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boolean test(T t)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14705" y="3418999"/>
            <a:ext cx="415528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Evalúa una condición y devuelve verdadero o falso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774323" y="3418999"/>
            <a:ext cx="28563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x &gt; 0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4180761"/>
            <a:ext cx="13027581" cy="586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0006" y="430744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Function&lt;T,R&gt;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609261" y="430744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 apply(T t)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14705" y="4307443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Transforma un valor de tipo T en tipo 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74323" y="4307443"/>
            <a:ext cx="28563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x * 2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4766905"/>
            <a:ext cx="13027581" cy="5861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0006" y="489358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Consumer&lt;T&gt;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609261" y="4893588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void accept(T t)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14705" y="4893588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Realiza una acción sin devolver nada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774323" y="4893588"/>
            <a:ext cx="28563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System.out::println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5353050"/>
            <a:ext cx="13027581" cy="586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0006" y="547973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Supplier&lt;T&gt;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609261" y="547973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get()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214705" y="5479733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Suministra un valor sin recibir argumentos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774323" y="5479733"/>
            <a:ext cx="28563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Math.random()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01410" y="5939195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00006" y="6065877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UnaryOperator&lt;T&gt;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609261" y="6065877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apply(T t)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214705" y="6065877"/>
            <a:ext cx="415528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 especializada: entrada y salida del mismo tipo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774323" y="6065877"/>
            <a:ext cx="28563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x + 1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801410" y="682763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00006" y="695432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BinaryOperator&lt;T&gt;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3609261" y="6954322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apply(T a, T b)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214705" y="6954322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 con dos argumentos del mismo tipo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774323" y="695432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(a,b) -&gt; a + b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0107"/>
            <a:ext cx="102933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Streams en Java: Procesamiento Declarativo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278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 una secuencia de elementos sobre la que se pueden aplicar operaciones funcionales de forma declarativa. Los streams permiten expresar transformaciones complejas de datos de manera clara y concisa, sin modificar las colecciones originales.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86162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37921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almacenan datos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221361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streams operan sobre la fuente original sin copiar elementos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586162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357" y="3792141"/>
            <a:ext cx="28890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Operaciones funcionales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4221361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filter, map, reduce, collect y muchas más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4323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9768" y="51492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Evaluación perezosa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9768" y="557843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operaciones intermedias solo se ejecutan cuando hay una operación terminal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494323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5149215"/>
            <a:ext cx="27767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Pipeline de operaciones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20357" y="557843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encadenan múltiples transformaciones de forma fluida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6164"/>
            <a:ext cx="6054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Básico de Stream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37140"/>
            <a:ext cx="6955631" cy="3473053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837140"/>
            <a:ext cx="6975396" cy="3473053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985968"/>
            <a:ext cx="6578679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List&lt;String&gt; nombres = List.of("Ana", "Luis", "Juan");nombres.stream()    .filter(n -&gt; n.length() &gt; 3)    .map(String::toUpperCase)    .forEach(System.out::println);// Output:// LUIS// JUAN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41149" y="28122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Flujo de operaciones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241149" y="3320772"/>
            <a:ext cx="560296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Fuente: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nombres.stream()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crea el stream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41149" y="3722965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Filtrado: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mantiene solo nombres con más de 3 caracteres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41149" y="4109918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Transformación: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convierte a mayúsculas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41149" y="4496872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Acción: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imprime cada elemento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582" y="452080"/>
            <a:ext cx="5399365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Las Tres Fases de un Stream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82" y="1212413"/>
            <a:ext cx="493157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15045" y="1376720"/>
            <a:ext cx="2055019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Fuente de Datos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315045" y="1732121"/>
            <a:ext cx="717137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Origen del stream: colecciones, arrays, ficheros, generadores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315045" y="2180034"/>
            <a:ext cx="7171373" cy="1035487"/>
          </a:xfrm>
          <a:prstGeom prst="roundRect">
            <a:avLst>
              <a:gd name="adj" fmla="val 6669"/>
            </a:avLst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1306830" y="2180034"/>
            <a:ext cx="7187803" cy="1035487"/>
          </a:xfrm>
          <a:prstGeom prst="roundRect">
            <a:avLst>
              <a:gd name="adj" fmla="val 2382"/>
            </a:avLst>
          </a:prstGeom>
          <a:solidFill>
            <a:srgbClr val="F2F2F2"/>
          </a:solidFill>
          <a:ln/>
        </p:spPr>
      </p:sp>
      <p:sp>
        <p:nvSpPr>
          <p:cNvPr id="9" name="Text 5"/>
          <p:cNvSpPr/>
          <p:nvPr/>
        </p:nvSpPr>
        <p:spPr>
          <a:xfrm>
            <a:off x="1471136" y="2303264"/>
            <a:ext cx="6859191" cy="789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list.stream()Stream.of(1, 2, 3)Files.lines(path)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61" y="3544133"/>
            <a:ext cx="493157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61624" y="3708440"/>
            <a:ext cx="2635806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Operaciones Intermedias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561624" y="4063841"/>
            <a:ext cx="6924794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Transformaciones que devuelven otro stream. Son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perezosas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no se ejecutan hasta que hay una operación terminal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1561624" y="4774763"/>
            <a:ext cx="6924794" cy="772478"/>
          </a:xfrm>
          <a:prstGeom prst="roundRect">
            <a:avLst>
              <a:gd name="adj" fmla="val 8939"/>
            </a:avLst>
          </a:prstGeom>
          <a:solidFill>
            <a:srgbClr val="F2F2F2"/>
          </a:solidFill>
          <a:ln/>
        </p:spPr>
      </p:sp>
      <p:sp>
        <p:nvSpPr>
          <p:cNvPr id="14" name="Shape 9"/>
          <p:cNvSpPr/>
          <p:nvPr/>
        </p:nvSpPr>
        <p:spPr>
          <a:xfrm>
            <a:off x="1553408" y="4774763"/>
            <a:ext cx="6941225" cy="772478"/>
          </a:xfrm>
          <a:prstGeom prst="roundRect">
            <a:avLst>
              <a:gd name="adj" fmla="val 3193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1717715" y="4897993"/>
            <a:ext cx="6612612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filter(), map(), sorted()distinct(), limit()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739" y="5875853"/>
            <a:ext cx="493157" cy="1143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08202" y="6040160"/>
            <a:ext cx="2108954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Operación Terminal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808202" y="6395561"/>
            <a:ext cx="6678216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Produce un resultado final o efecto secundario. Activa la ejecución del pipeline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1808202" y="6843474"/>
            <a:ext cx="6678216" cy="772478"/>
          </a:xfrm>
          <a:prstGeom prst="roundRect">
            <a:avLst>
              <a:gd name="adj" fmla="val 8939"/>
            </a:avLst>
          </a:prstGeom>
          <a:solidFill>
            <a:srgbClr val="F2F2F2"/>
          </a:solidFill>
          <a:ln/>
        </p:spPr>
      </p:sp>
      <p:sp>
        <p:nvSpPr>
          <p:cNvPr id="20" name="Shape 14"/>
          <p:cNvSpPr/>
          <p:nvPr/>
        </p:nvSpPr>
        <p:spPr>
          <a:xfrm>
            <a:off x="1799987" y="6843474"/>
            <a:ext cx="6694646" cy="772478"/>
          </a:xfrm>
          <a:prstGeom prst="roundRect">
            <a:avLst>
              <a:gd name="adj" fmla="val 3193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1964293" y="6966704"/>
            <a:ext cx="6366034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forEach(), collect()reduce(), count(), findFirst()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369"/>
            <a:ext cx="106009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Funcionales en Métodos de Stream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4328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método de stream utiliza una interfaz funcional específica según el tipo de operación que realiza. Comprender estas relaciones facilita el uso efectivo de streams.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01603"/>
            <a:ext cx="13042821" cy="3501628"/>
          </a:xfrm>
          <a:prstGeom prst="roundRect">
            <a:avLst>
              <a:gd name="adj" fmla="val 23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0922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343590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Método Stream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911923" y="343590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Interfaz Funcional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20150" y="3435906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880128"/>
            <a:ext cx="13027581" cy="5861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400681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filter(Predicate)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11923" y="400681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Predicate&lt;T&gt;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20150" y="4006810"/>
            <a:ext cx="481048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stream.filter(x -&gt; x &gt; 5)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466273"/>
            <a:ext cx="13027581" cy="586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59295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map(Function)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1923" y="459295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Function&lt;T,R&gt;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820150" y="4592955"/>
            <a:ext cx="481048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stream.map(String::length)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052417"/>
            <a:ext cx="13027581" cy="5861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517910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forEach(Consumer)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1923" y="517910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Consumer&lt;T&gt;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20150" y="5179100"/>
            <a:ext cx="481048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stream.forEach(System.out::println)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638562"/>
            <a:ext cx="13027581" cy="586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576524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reduce(BinaryOperator)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1923" y="5765244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BinaryOperator&lt;T&gt;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20150" y="5765244"/>
            <a:ext cx="481048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stream.reduce((a,b) -&gt; a+b)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622470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9887" y="635138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sorted(Comparator)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911923" y="6351389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Comparator&lt;T&gt;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20150" y="6351389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stream.sorted((a,b) -&gt; a.compareTo(b))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7016"/>
            <a:ext cx="102433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 Método reduce(): Concepto Fundamental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03928"/>
            <a:ext cx="1304282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método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 una operación terminal que combina todos los elementos del stream en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único resultado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aplicando repetidamente una función acumuladora. Su nombre proviene de "reducir" una secuencia completa a un solo valor.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154912" y="46865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Valor Inicial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5115758"/>
            <a:ext cx="38420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Punto de partida opcional (identidad)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77490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544" y="4599682"/>
            <a:ext cx="296942" cy="3711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5284" y="34709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Acumulador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895284" y="3900130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Función que combina dos elementos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77490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40" y="3648611"/>
            <a:ext cx="296942" cy="3711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5284" y="59021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Resultado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895284" y="6331387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Valor único final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77490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667" y="6374785"/>
            <a:ext cx="296942" cy="3711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541"/>
            <a:ext cx="65966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Dos formas de usar reduce()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99454"/>
            <a:ext cx="6422231" cy="4647605"/>
          </a:xfrm>
          <a:prstGeom prst="roundRect">
            <a:avLst>
              <a:gd name="adj" fmla="val 179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322314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sp>
        <p:nvSpPr>
          <p:cNvPr id="5" name="Text 3"/>
          <p:cNvSpPr/>
          <p:nvPr/>
        </p:nvSpPr>
        <p:spPr>
          <a:xfrm>
            <a:off x="3856077" y="243006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15008" y="3115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 valor inicial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15008" y="3649385"/>
            <a:ext cx="5979795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126" y="3649385"/>
            <a:ext cx="5999559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203484" y="3798213"/>
            <a:ext cx="560284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List&lt;Integer&gt; numeros = List.of(2, 3, 4);Optional&lt;Integer&gt; resultado = numeros.stream()    .reduce((a, b) -&gt; a * b);resultado.ifPresent(System.out::println); // 24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5008" y="6075521"/>
            <a:ext cx="5979795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Devuelve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porque el stream podría estar vacío. El primer elemento actúa como valor inicial.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2299454"/>
            <a:ext cx="6422231" cy="4647605"/>
          </a:xfrm>
          <a:prstGeom prst="roundRect">
            <a:avLst>
              <a:gd name="adj" fmla="val 179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37239" y="2322314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2E3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6667" y="243006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35597" y="3115985"/>
            <a:ext cx="32043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 valor inicial (identidad)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635597" y="3649385"/>
            <a:ext cx="5979795" cy="2202894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5715" y="3649385"/>
            <a:ext cx="5999559" cy="2202894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824073" y="3798213"/>
            <a:ext cx="560284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List&lt;Integer&gt; numeros = List.of(2, 3, 4);int producto = numeros.stream()    .reduce(1, (a, b) -&gt; a * b);System.out.println(producto); // 24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635597" y="607552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Devuelve directamente el tipo del resultado, nunca null. El valor inicial garantiza que siempre hay resultado.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403027"/>
            <a:ext cx="48654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Optional: Manejo Seguro de Valores Nulos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96835" y="752832"/>
            <a:ext cx="421552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Introducido en Java 8 para evitar NullPointerException de forma elegante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96835" y="1056680"/>
            <a:ext cx="13836729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interfaz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 Java es un contenedor que puede o no contener un valor no nulo. Su propósito principal es permitirle trabajar con valores posiblemente nulos de una manera más segura y expresiva, reduciendo la aparición de las temidas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 mejorando la legibilidad del código. Es una herramienta poderosa para indicar la ausencia de un valor, obligando al desarrollador a considerar estos casos.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96835" y="1500664"/>
            <a:ext cx="6868716" cy="6040517"/>
          </a:xfrm>
          <a:prstGeom prst="roundRect">
            <a:avLst>
              <a:gd name="adj" fmla="val 690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2075" y="1515904"/>
            <a:ext cx="6838236" cy="297656"/>
          </a:xfrm>
          <a:prstGeom prst="roundRect">
            <a:avLst>
              <a:gd name="adj" fmla="val 7859"/>
            </a:avLst>
          </a:prstGeom>
          <a:solidFill>
            <a:srgbClr val="E2E3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6779" y="1567934"/>
            <a:ext cx="148828" cy="185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1254" y="191273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Crear Optional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11254" y="2179320"/>
            <a:ext cx="6639878" cy="941784"/>
          </a:xfrm>
          <a:prstGeom prst="roundRect">
            <a:avLst>
              <a:gd name="adj" fmla="val 4426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506373" y="2179320"/>
            <a:ext cx="6649641" cy="941784"/>
          </a:xfrm>
          <a:prstGeom prst="roundRect">
            <a:avLst>
              <a:gd name="adj" fmla="val 1581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605552" y="2253734"/>
            <a:ext cx="6451283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String nombre = "Juan";Optional&lt;String&gt; optNombre = Optional.of(nombre);// Optional[Juan]// Optional.of(null); // Lanza NullPointerException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11254" y="3232666"/>
            <a:ext cx="6639878" cy="1100376"/>
          </a:xfrm>
          <a:prstGeom prst="roundRect">
            <a:avLst>
              <a:gd name="adj" fmla="val 3788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06373" y="3232666"/>
            <a:ext cx="6649641" cy="1100376"/>
          </a:xfrm>
          <a:prstGeom prst="roundRect">
            <a:avLst>
              <a:gd name="adj" fmla="val 1353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605552" y="3307080"/>
            <a:ext cx="6451283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String apellido = "Perez";Optional&lt;String&gt; optApellido = Optional.ofNullable(apellido); // Optional[Perez]String segundoNombre = null;Optional&lt;String&gt; optSegundoNombre = Optional.ofNullable(segundoNombre); // Optional.empty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1254" y="4444603"/>
            <a:ext cx="6639878" cy="307419"/>
          </a:xfrm>
          <a:prstGeom prst="roundRect">
            <a:avLst>
              <a:gd name="adj" fmla="val 13558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506373" y="4444603"/>
            <a:ext cx="6649641" cy="307419"/>
          </a:xfrm>
          <a:prstGeom prst="roundRect">
            <a:avLst>
              <a:gd name="adj" fmla="val 4842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/>
          <p:nvPr/>
        </p:nvSpPr>
        <p:spPr>
          <a:xfrm>
            <a:off x="605552" y="4519017"/>
            <a:ext cx="6451283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Optional&lt;String&gt; optVacio = Optional.empty(); // Optional.empty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11254" y="4863584"/>
            <a:ext cx="6639878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Optional.of(valor):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Crea un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que contiene el valor especificado.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Lanza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 el valor es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Úselo cuando esté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seguro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que el valor no es nulo.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11254" y="5230654"/>
            <a:ext cx="6639878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Optional.ofNullable(valor):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Crea un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que contiene el valor especificado si no es nulo, o un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vacío si el valor es nulo. Úselo cuando el valor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pueda ser nulo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1254" y="5597723"/>
            <a:ext cx="66398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Optional.empty():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Crea un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vacío explícitamente. Útil cuando se necesita representar la ausencia de un valor de forma directa.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364730" y="1500664"/>
            <a:ext cx="6868835" cy="6040517"/>
          </a:xfrm>
          <a:prstGeom prst="roundRect">
            <a:avLst>
              <a:gd name="adj" fmla="val 690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79970" y="1515904"/>
            <a:ext cx="6838355" cy="297656"/>
          </a:xfrm>
          <a:prstGeom prst="roundRect">
            <a:avLst>
              <a:gd name="adj" fmla="val 7859"/>
            </a:avLst>
          </a:prstGeom>
          <a:solidFill>
            <a:srgbClr val="E2E3E9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674" y="1567934"/>
            <a:ext cx="148828" cy="1859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79149" y="191273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Usar Optional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479149" y="2179320"/>
            <a:ext cx="6639997" cy="941784"/>
          </a:xfrm>
          <a:prstGeom prst="roundRect">
            <a:avLst>
              <a:gd name="adj" fmla="val 4426"/>
            </a:avLst>
          </a:prstGeom>
          <a:solidFill>
            <a:srgbClr val="F2F2F2"/>
          </a:solidFill>
          <a:ln/>
        </p:spPr>
      </p:sp>
      <p:sp>
        <p:nvSpPr>
          <p:cNvPr id="26" name="Shape 22"/>
          <p:cNvSpPr/>
          <p:nvPr/>
        </p:nvSpPr>
        <p:spPr>
          <a:xfrm>
            <a:off x="7474268" y="2179320"/>
            <a:ext cx="6649760" cy="941784"/>
          </a:xfrm>
          <a:prstGeom prst="roundRect">
            <a:avLst>
              <a:gd name="adj" fmla="val 1581"/>
            </a:avLst>
          </a:prstGeom>
          <a:solidFill>
            <a:srgbClr val="F2F2F2"/>
          </a:solidFill>
          <a:ln/>
        </p:spPr>
      </p:sp>
      <p:sp>
        <p:nvSpPr>
          <p:cNvPr id="27" name="Text 23"/>
          <p:cNvSpPr/>
          <p:nvPr/>
        </p:nvSpPr>
        <p:spPr>
          <a:xfrm>
            <a:off x="7573447" y="2253734"/>
            <a:ext cx="6451402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Optional&lt;String&gt; optValor = Optional.of("Hola");if (optValor.isPresent()) {    System.out.println("Valor: " + optValor.get()); // No hacer .get() sin isPresent()}// También: optValor.isEmpty()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7479149" y="3232666"/>
            <a:ext cx="6639997" cy="307419"/>
          </a:xfrm>
          <a:prstGeom prst="roundRect">
            <a:avLst>
              <a:gd name="adj" fmla="val 13558"/>
            </a:avLst>
          </a:prstGeom>
          <a:solidFill>
            <a:srgbClr val="F2F2F2"/>
          </a:solidFill>
          <a:ln/>
        </p:spPr>
      </p:sp>
      <p:sp>
        <p:nvSpPr>
          <p:cNvPr id="29" name="Shape 25"/>
          <p:cNvSpPr/>
          <p:nvPr/>
        </p:nvSpPr>
        <p:spPr>
          <a:xfrm>
            <a:off x="7474268" y="3232666"/>
            <a:ext cx="6649760" cy="307419"/>
          </a:xfrm>
          <a:prstGeom prst="roundRect">
            <a:avLst>
              <a:gd name="adj" fmla="val 4842"/>
            </a:avLst>
          </a:prstGeom>
          <a:solidFill>
            <a:srgbClr val="F2F2F2"/>
          </a:solidFill>
          <a:ln/>
        </p:spPr>
      </p:sp>
      <p:sp>
        <p:nvSpPr>
          <p:cNvPr id="30" name="Text 26"/>
          <p:cNvSpPr/>
          <p:nvPr/>
        </p:nvSpPr>
        <p:spPr>
          <a:xfrm>
            <a:off x="7573447" y="3307080"/>
            <a:ext cx="6451402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optValor.ifPresent(v -&gt; System.out.println("Valor existe: " + v));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7479149" y="3651647"/>
            <a:ext cx="6639997" cy="307419"/>
          </a:xfrm>
          <a:prstGeom prst="roundRect">
            <a:avLst>
              <a:gd name="adj" fmla="val 13558"/>
            </a:avLst>
          </a:prstGeom>
          <a:solidFill>
            <a:srgbClr val="F2F2F2"/>
          </a:solidFill>
          <a:ln/>
        </p:spPr>
      </p:sp>
      <p:sp>
        <p:nvSpPr>
          <p:cNvPr id="32" name="Shape 28"/>
          <p:cNvSpPr/>
          <p:nvPr/>
        </p:nvSpPr>
        <p:spPr>
          <a:xfrm>
            <a:off x="7474268" y="3651647"/>
            <a:ext cx="6649760" cy="307419"/>
          </a:xfrm>
          <a:prstGeom prst="roundRect">
            <a:avLst>
              <a:gd name="adj" fmla="val 4842"/>
            </a:avLst>
          </a:prstGeom>
          <a:solidFill>
            <a:srgbClr val="F2F2F2"/>
          </a:solidFill>
          <a:ln/>
        </p:spPr>
      </p:sp>
      <p:sp>
        <p:nvSpPr>
          <p:cNvPr id="33" name="Text 29"/>
          <p:cNvSpPr/>
          <p:nvPr/>
        </p:nvSpPr>
        <p:spPr>
          <a:xfrm>
            <a:off x="7573447" y="3726061"/>
            <a:ext cx="6451402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String result = optVacio.orElse("Default"); // "Default"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479149" y="4070628"/>
            <a:ext cx="6639997" cy="307419"/>
          </a:xfrm>
          <a:prstGeom prst="roundRect">
            <a:avLst>
              <a:gd name="adj" fmla="val 13558"/>
            </a:avLst>
          </a:prstGeom>
          <a:solidFill>
            <a:srgbClr val="F2F2F2"/>
          </a:solidFill>
          <a:ln/>
        </p:spPr>
      </p:sp>
      <p:sp>
        <p:nvSpPr>
          <p:cNvPr id="35" name="Shape 31"/>
          <p:cNvSpPr/>
          <p:nvPr/>
        </p:nvSpPr>
        <p:spPr>
          <a:xfrm>
            <a:off x="7474268" y="4070628"/>
            <a:ext cx="6649760" cy="307419"/>
          </a:xfrm>
          <a:prstGeom prst="roundRect">
            <a:avLst>
              <a:gd name="adj" fmla="val 4842"/>
            </a:avLst>
          </a:prstGeom>
          <a:solidFill>
            <a:srgbClr val="F2F2F2"/>
          </a:solidFill>
          <a:ln/>
        </p:spPr>
      </p:sp>
      <p:sp>
        <p:nvSpPr>
          <p:cNvPr id="36" name="Text 32"/>
          <p:cNvSpPr/>
          <p:nvPr/>
        </p:nvSpPr>
        <p:spPr>
          <a:xfrm>
            <a:off x="7573447" y="4145042"/>
            <a:ext cx="6451402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String resultLazy = optVacio.orElseGet(() -&gt; "Calculado por defecto"); // "Calculado por defecto"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7479149" y="4489609"/>
            <a:ext cx="6639997" cy="307419"/>
          </a:xfrm>
          <a:prstGeom prst="roundRect">
            <a:avLst>
              <a:gd name="adj" fmla="val 13558"/>
            </a:avLst>
          </a:prstGeom>
          <a:solidFill>
            <a:srgbClr val="F2F2F2"/>
          </a:solidFill>
          <a:ln/>
        </p:spPr>
      </p:sp>
      <p:sp>
        <p:nvSpPr>
          <p:cNvPr id="38" name="Shape 34"/>
          <p:cNvSpPr/>
          <p:nvPr/>
        </p:nvSpPr>
        <p:spPr>
          <a:xfrm>
            <a:off x="7474268" y="4489609"/>
            <a:ext cx="6649760" cy="307419"/>
          </a:xfrm>
          <a:prstGeom prst="roundRect">
            <a:avLst>
              <a:gd name="adj" fmla="val 4842"/>
            </a:avLst>
          </a:prstGeom>
          <a:solidFill>
            <a:srgbClr val="F2F2F2"/>
          </a:solidFill>
          <a:ln/>
        </p:spPr>
      </p:sp>
      <p:sp>
        <p:nvSpPr>
          <p:cNvPr id="39" name="Text 35"/>
          <p:cNvSpPr/>
          <p:nvPr/>
        </p:nvSpPr>
        <p:spPr>
          <a:xfrm>
            <a:off x="7573447" y="4564023"/>
            <a:ext cx="6451402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Optional&lt;Integer&gt; longitud = optValor.map(String::length); // Optional[4]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7479149" y="4908590"/>
            <a:ext cx="6639997" cy="466011"/>
          </a:xfrm>
          <a:prstGeom prst="roundRect">
            <a:avLst>
              <a:gd name="adj" fmla="val 8944"/>
            </a:avLst>
          </a:prstGeom>
          <a:solidFill>
            <a:srgbClr val="F2F2F2"/>
          </a:solidFill>
          <a:ln/>
        </p:spPr>
      </p:sp>
      <p:sp>
        <p:nvSpPr>
          <p:cNvPr id="41" name="Shape 37"/>
          <p:cNvSpPr/>
          <p:nvPr/>
        </p:nvSpPr>
        <p:spPr>
          <a:xfrm>
            <a:off x="7474268" y="4908590"/>
            <a:ext cx="6649760" cy="466011"/>
          </a:xfrm>
          <a:prstGeom prst="roundRect">
            <a:avLst>
              <a:gd name="adj" fmla="val 3194"/>
            </a:avLst>
          </a:prstGeom>
          <a:solidFill>
            <a:srgbClr val="F2F2F2"/>
          </a:solidFill>
          <a:ln/>
        </p:spPr>
      </p:sp>
      <p:sp>
        <p:nvSpPr>
          <p:cNvPr id="42" name="Text 38"/>
          <p:cNvSpPr/>
          <p:nvPr/>
        </p:nvSpPr>
        <p:spPr>
          <a:xfrm>
            <a:off x="7573447" y="4983004"/>
            <a:ext cx="6451402" cy="31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Optional&lt;String&gt; filtrado = optValor.filter(s -&gt; s.startsWith("H")); // Optional[Hola]Optional&lt;String&gt; noFiltrado = optValor.filter(s -&gt; s.startsWith("Z")); // Optional.empty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7479149" y="5486162"/>
            <a:ext cx="66399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isPresent() / isEmpty():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Verifica si el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contiene un valor (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isPresent()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o si está vacío (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7479149" y="5694640"/>
            <a:ext cx="66399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ifPresent(Consumer):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Ejecuta una acción si el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contiene un valor.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7479149" y="5903119"/>
            <a:ext cx="66399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orElse(valor):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Devuelve el valor contenido si existe, o un valor por defecto especificado si el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está vacío.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479149" y="6111597"/>
            <a:ext cx="6639997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orElseGet(Supplier):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Similar a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orElse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pero el valor por defecto se evalúa de forma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lazy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(solo si el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está vacío), lo que puede ser más eficiente si la creación del valor por defecto es costosa.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7479149" y="6478667"/>
            <a:ext cx="6639997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map(Function):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 hay un valor, aplica una función de mapeo al valor y devuelve un nuevo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 el resultado. Permite encadenar operaciones.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7479149" y="6845737"/>
            <a:ext cx="66399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filter(Predicate):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 hay un valor y cumple una condición, devuelve el mismo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De lo contrario, devuelve un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vacío.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7479149" y="7079099"/>
            <a:ext cx="663999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Estos métodos permiten un manejo seguro y funcional de la ausencia de valores,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eliminando la necesidad de verificaciones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explícitas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 las potenciales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asociadas.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396835" y="7652742"/>
            <a:ext cx="138367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resumen, 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ayuda a escribir un código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seguro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al hacer explícita la posibilidad de ausencia de un valor,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legible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al usar un flujo de trabajo funcional y encadenado, y </a:t>
            </a:r>
            <a:pPr algn="l" indent="0" marL="0">
              <a:lnSpc>
                <a:spcPts val="1250"/>
              </a:lnSpc>
              <a:buNone/>
            </a:pP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expresivo</a:t>
            </a:r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al comunicar claramente las intenciones del desarrollador.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8430"/>
            <a:ext cx="105657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Práctico: Concatenación de Cadenas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44522"/>
            <a:ext cx="38873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Uso de reduce() con Strings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439835"/>
            <a:ext cx="6279356" cy="2837974"/>
          </a:xfrm>
          <a:prstGeom prst="roundRect">
            <a:avLst>
              <a:gd name="adj" fmla="val 2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439835"/>
            <a:ext cx="6299121" cy="2837974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588663"/>
            <a:ext cx="590240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List&lt;String&gt; nombres =     List.of("Ana", "Luis", "Juan");String resultado = nombres.stream()    .reduce("", (a, b) -&gt; a + " " + b);System.out.println(resultado.trim()); // "Ana Luis Juan"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8445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Paso a paso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414951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Inicio: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 = ""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817144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Iteración 1: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 + " " + "Ana" = " Ana"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219337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Iteración 2: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Ana" + " " + "Luis" = " Ana Luis"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621530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Iteración 3: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Ana Luis" + " " + "Juan" = " Ana Luis Juan"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5023723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aplicamos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eliminar espacios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683371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Completo: Combinando 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600" y="1123950"/>
            <a:ext cx="13411200" cy="2179320"/>
          </a:xfrm>
          <a:prstGeom prst="roundRect">
            <a:avLst>
              <a:gd name="adj" fmla="val 293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601980" y="1123950"/>
            <a:ext cx="13426440" cy="2179320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54380" y="1238250"/>
            <a:ext cx="13121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List&lt;Integer&gt; numeros = List.of(1, 2, 3, 4, 5, 6);int resultado = numeros.stream()    .filter(n -&gt; n % 2 == 0)      // Predicate: filtra pares    .map(n -&gt; n * n)               // Function: eleva al cuadrado    .reduce(0, (a, b) -&gt; a + b);   // BinaryOperator: suma totalSystem.out.println(resultado); // 56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474720"/>
            <a:ext cx="762000" cy="12287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4000" y="3627120"/>
            <a:ext cx="19051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Filtrado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4000" y="3956685"/>
            <a:ext cx="12496800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Mantiene solo números pares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24000" y="4291965"/>
            <a:ext cx="124968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[2, 4, 6]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03445"/>
            <a:ext cx="762000" cy="1228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4000" y="4855845"/>
            <a:ext cx="19051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Transformación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24000" y="5185410"/>
            <a:ext cx="12496800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Eleva cada número al cuadrado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524000" y="5520690"/>
            <a:ext cx="124968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[4, 16, 36]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932170"/>
            <a:ext cx="762000" cy="12287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24000" y="6084570"/>
            <a:ext cx="19051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Reducción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24000" y="6414135"/>
            <a:ext cx="12496800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Suma todos los valores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524000" y="6749415"/>
            <a:ext cx="124968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 + 16 + 36 = 56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9600" y="7332345"/>
            <a:ext cx="13411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ejemplo demuestra el poder de la programación funcional: expresamos transformaciones complejas de datos de forma declarativa, clara y concisa, encadenando operaciones que se leen como un flujo natural de procesamiento.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2025-10-14T06:40:12Z</dcterms:created>
  <dcterms:modified xsi:type="dcterms:W3CDTF">2025-10-14T06:40:12Z</dcterms:modified>
</cp:coreProperties>
</file>